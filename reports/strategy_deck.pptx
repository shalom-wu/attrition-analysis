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232946"/>
                </a:solidFill>
                <a:latin typeface="Calibri"/>
              </a:rPr>
              <a:t>Annual replacement cost by department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($M)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Engineering</c:v>
                </c:pt>
                <c:pt idx="2">
                  <c:v>HR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4.25</c:v>
                </c:pt>
                <c:pt idx="1">
                  <c:v>4.1</c:v>
                </c:pt>
                <c:pt idx="2">
                  <c:v>0.32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sz="1000" b="1">
                  <a:solidFill>
                    <a:srgbClr val="23294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5A617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17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232946"/>
                </a:solidFill>
                <a:latin typeface="Calibri"/>
              </a:rPr>
              <a:t>Attrition rate (%) by job level × overtime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overtime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Sheet1!$A$2:$A$6</c:f>
              <c:strCache>
                <c:ptCount val="5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  <c:pt idx="4">
                  <c:v>L5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15.8</c:v>
                </c:pt>
                <c:pt idx="1">
                  <c:v>6.7</c:v>
                </c:pt>
                <c:pt idx="2">
                  <c:v>12.3</c:v>
                </c:pt>
                <c:pt idx="3">
                  <c:v>2.7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Overtime</c:v>
                </c:pt>
              </c:strCache>
            </c:strRef>
          </c:tx>
          <c:spPr>
            <a:solidFill>
              <a:srgbClr val="E14B4B"/>
            </a:solidFill>
          </c:spPr>
          <c:cat>
            <c:strRef>
              <c:f>Sheet1!$A$2:$A$6</c:f>
              <c:strCache>
                <c:ptCount val="5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  <c:pt idx="4">
                  <c:v>L5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52.6</c:v>
                </c:pt>
                <c:pt idx="1">
                  <c:v>17.8</c:v>
                </c:pt>
                <c:pt idx="2">
                  <c:v>20.6</c:v>
                </c:pt>
                <c:pt idx="3">
                  <c:v>9.1</c:v>
                </c:pt>
                <c:pt idx="4">
                  <c:v>16.7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23294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5A617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17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PEOPLE ANALYTICS  · 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Employee Attrition: Cost, Drivers,</a:t>
            </a:r>
          </a:p>
          <a:p>
            <a:pPr algn="l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and a Retention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Analysis of 1,470 employees across Engineering, Sales, and HR — descriptive analysis, predictive model, and costed interventions.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97680"/>
            <a:ext cx="10515600" cy="9525"/>
          </a:xfrm>
          <a:prstGeom prst="rect">
            <a:avLst/>
          </a:prstGeom>
          <a:solidFill>
            <a:srgbClr val="3A4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16.1%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ANNUAL ATTRITION — 237 OF 1,470 EMPLOYEES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47091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E14B4B"/>
                </a:solidFill>
                <a:latin typeface="Cambria"/>
              </a:rPr>
              <a:t>$8.67M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ANNUAL REPLACEMENT COST — 7.6% OF PAYROLL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091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7.1 mo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OF SALARY LOST PER DEPARTURE (AVG $36.6K)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Attrition costs us ~$8.7M a year — and it's concentrated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16.1% annual attrition</a:t>
            </a:r>
            <a:r>
              <a:rPr sz="1450" b="0" i="0">
                <a:solidFill>
                  <a:srgbClr val="232946"/>
                </a:solidFill>
                <a:latin typeface="Calibri"/>
              </a:rPr>
              <a:t> sits at the high end of the 13–17% typical range for mid-size tech/SaaS companies.</a:t>
            </a:r>
          </a:p>
          <a:p>
            <a:pPr algn="l">
              <a:spcAft>
                <a:spcPts val="14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$36.6K per departure</a:t>
            </a:r>
            <a:r>
              <a:rPr sz="1450" b="0" i="0">
                <a:solidFill>
                  <a:srgbClr val="232946"/>
                </a:solidFill>
                <a:latin typeface="Calibri"/>
              </a:rPr>
              <a:t> — recruiting, onboarding, vacancy, and ramp-up; ≈7.1 months of salary, conservative vs. SHRM (6–9 mo) and Gallup (0.5–2× salary) benchmarks.</a:t>
            </a:r>
          </a:p>
          <a:p>
            <a:pPr algn="l">
              <a:spcAft>
                <a:spcPts val="14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Sales bleeds fastest</a:t>
            </a:r>
            <a:r>
              <a:rPr sz="1450" b="0" i="0">
                <a:solidFill>
                  <a:srgbClr val="232946"/>
                </a:solidFill>
                <a:latin typeface="Calibri"/>
              </a:rPr>
              <a:t> at 20.6% attrition ($4.25M/yr); Engineering loses the most absolute dollars after Sales ($4.10M/yr at 13.8%).</a:t>
            </a:r>
          </a:p>
          <a:p>
            <a:pPr algn="l">
              <a:spcAft>
                <a:spcPts val="14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Every dollar is traceable</a:t>
            </a:r>
            <a:r>
              <a:rPr sz="1450" b="0" i="0">
                <a:solidFill>
                  <a:srgbClr val="232946"/>
                </a:solidFill>
                <a:latin typeface="Calibri"/>
              </a:rPr>
              <a:t> to an explicit assumption — soft costs (knowledge loss, morale, customer damage) are deliberately excluded, so the true number is higher.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35040" y="1371600"/>
          <a:ext cx="55778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5349240"/>
            <a:ext cx="5577840" cy="960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Attrition rate by department:  </a:t>
            </a:r>
            <a:r>
              <a:rPr sz="1300" b="0" i="0">
                <a:solidFill>
                  <a:srgbClr val="232946"/>
                </a:solidFill>
                <a:latin typeface="Calibri"/>
              </a:rPr>
              <a:t>Sales 20.6%   ·   HR 19.0%   ·   Engineering 13.8%   (company avg 16.1%)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It's not random: overtime and early tenure do the damage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949440" y="137160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 tIns="164592"/>
          <a:lstStyle/>
          <a:p>
            <a:pPr algn="l">
              <a:spcAft>
                <a:spcPts val="200"/>
              </a:spcAft>
            </a:pPr>
            <a:r>
              <a:rPr sz="3800" b="1" i="0">
                <a:solidFill>
                  <a:srgbClr val="E14B4B"/>
                </a:solidFill>
                <a:latin typeface="Cambria"/>
              </a:rPr>
              <a:t>52.6%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32946"/>
                </a:solidFill>
                <a:latin typeface="Calibri"/>
              </a:rPr>
              <a:t>attrition among junior (L1) employees working overtime — a third of all departures from just 11% of headcount.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3520440"/>
            <a:ext cx="45720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34.9%   </a:t>
            </a:r>
            <a:r>
              <a:rPr sz="1250" b="0" i="0">
                <a:solidFill>
                  <a:srgbClr val="5A6178"/>
                </a:solidFill>
                <a:latin typeface="Calibri"/>
              </a:rPr>
              <a:t>first-year employees (4.3× the 10-yr+ rate)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30.5%   </a:t>
            </a:r>
            <a:r>
              <a:rPr sz="1250" b="0" i="0">
                <a:solidFill>
                  <a:srgbClr val="5A6178"/>
                </a:solidFill>
                <a:latin typeface="Calibri"/>
              </a:rPr>
              <a:t>overtime workers overall (vs 10.4% without)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29.3%   </a:t>
            </a:r>
            <a:r>
              <a:rPr sz="1250" b="0" i="0">
                <a:solidFill>
                  <a:srgbClr val="5A6178"/>
                </a:solidFill>
                <a:latin typeface="Calibri"/>
              </a:rPr>
              <a:t>bottom income quartile (2.8× top quartile)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24.9%   </a:t>
            </a:r>
            <a:r>
              <a:rPr sz="1250" b="0" i="0">
                <a:solidFill>
                  <a:srgbClr val="5A6178"/>
                </a:solidFill>
                <a:latin typeface="Calibri"/>
              </a:rPr>
              <a:t>frequent business travelers (3.1× non-travelers)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66.7%   </a:t>
            </a:r>
            <a:r>
              <a:rPr sz="1250" b="0" i="0">
                <a:solidFill>
                  <a:srgbClr val="5A6178"/>
                </a:solidFill>
                <a:latin typeface="Calibri"/>
              </a:rPr>
              <a:t>sales representatives working overtime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Cambria"/>
              </a:rPr>
              <a:t>The model confirms the drivers — and adds a hidden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7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1. Overtime</a:t>
            </a:r>
            <a:r>
              <a:rPr sz="1350" b="0" i="0">
                <a:solidFill>
                  <a:srgbClr val="232946"/>
                </a:solidFill>
                <a:latin typeface="Calibri"/>
              </a:rPr>
              <a:t> — strongest predictor; ~2× the odds of leaving, all else equal.</a:t>
            </a:r>
          </a:p>
          <a:p>
            <a:pPr algn="l">
              <a:spcAft>
                <a:spcPts val="17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2. Low pay / junior level / short tenure</a:t>
            </a:r>
            <a:r>
              <a:rPr sz="1350" b="0" i="0">
                <a:solidFill>
                  <a:srgbClr val="232946"/>
                </a:solidFill>
                <a:latin typeface="Calibri"/>
              </a:rPr>
              <a:t> — a correlated cluster; top SHAP features after overtime (income, stock options, age).</a:t>
            </a:r>
          </a:p>
          <a:p>
            <a:pPr algn="l">
              <a:spcAft>
                <a:spcPts val="17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3. Frequent business travel</a:t>
            </a:r>
            <a:r>
              <a:rPr sz="1350" b="0" i="0">
                <a:solidFill>
                  <a:srgbClr val="232946"/>
                </a:solidFill>
                <a:latin typeface="Calibri"/>
              </a:rPr>
              <a:t> — odds ratio ≈1.7; underappreciated.</a:t>
            </a:r>
          </a:p>
          <a:p>
            <a:pPr algn="l">
              <a:spcAft>
                <a:spcPts val="17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4. Promotion stagnation</a:t>
            </a:r>
            <a:r>
              <a:rPr sz="1350" b="0" i="0">
                <a:solidFill>
                  <a:srgbClr val="232946"/>
                </a:solidFill>
                <a:latin typeface="Calibri"/>
              </a:rPr>
              <a:t> — years since last promotion raises risk (OR ≈1.6/SD) once tenure is controlled for. The naive segment cut hides this; the regression surfaces it.</a:t>
            </a:r>
          </a:p>
          <a:p>
            <a:pPr algn="l">
              <a:spcAft>
                <a:spcPts val="17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5. Low satisfaction, long commute, single</a:t>
            </a:r>
            <a:r>
              <a:rPr sz="1350" b="0" i="0">
                <a:solidFill>
                  <a:srgbClr val="232946"/>
                </a:solidFill>
                <a:latin typeface="Calibri"/>
              </a:rPr>
              <a:t> — secondary but consistent.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34924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Model quality:  </a:t>
            </a:r>
            <a:r>
              <a:rPr sz="1250" b="0" i="0">
                <a:solidFill>
                  <a:srgbClr val="232946"/>
                </a:solidFill>
                <a:latin typeface="Calibri"/>
              </a:rPr>
              <a:t>ROC-AUC 0.81 (logistic; XGBoost 0.79). Catches 71% of true leavers while flagging 33% of employees — for prioritizing manager check-ins, not automated decisions.</a:t>
            </a:r>
          </a:p>
        </p:txBody>
      </p:sp>
      <p:pic>
        <p:nvPicPr>
          <p:cNvPr id="5" name="Picture 4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869" y="1325880"/>
            <a:ext cx="537962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Cost of inaction: ~$26M over the next three years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6766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188720"/>
                <a:gridCol w="128016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anchor="ctr" marL="10972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Leavers / yr</a:t>
                      </a:r>
                    </a:p>
                  </a:txBody>
                  <a:tcPr anchor="ctr" marL="10972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Annual cost</a:t>
                      </a:r>
                    </a:p>
                  </a:txBody>
                  <a:tcPr anchor="ctr" marL="10972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Share of cost</a:t>
                      </a:r>
                    </a:p>
                  </a:txBody>
                  <a:tcPr anchor="ctr" marL="109728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Overtime employees (n=416)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$4.55M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52.5%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First-year employees (n=215)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$1.68M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19.4%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Junior + overtime core (n=156)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$1.42M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16.3%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Everyone else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balance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3294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09160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 i="1">
                <a:solidFill>
                  <a:srgbClr val="5A6178"/>
                </a:solidFill>
                <a:latin typeface="Calibri"/>
              </a:rPr>
              <a:t>Populations overlap (a first-year junior on overtime appears in all three rows) — shares don't sum to 100%.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What's not in the number:  </a:t>
            </a:r>
            <a:r>
              <a:rPr sz="1300" b="0" i="0">
                <a:solidFill>
                  <a:srgbClr val="232946"/>
                </a:solidFill>
                <a:latin typeface="Calibri"/>
              </a:rPr>
              <a:t>lost domain knowledge, customer relationship damage in Sales, team morale drag, manager time. All push the true cost higher.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63040"/>
            <a:ext cx="3840480" cy="3657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$8.67M</a:t>
            </a:r>
          </a:p>
          <a:p>
            <a:pPr algn="ctr">
              <a:spcAft>
                <a:spcPts val="18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per year at the current run-rate</a:t>
            </a:r>
          </a:p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E14B4B"/>
                </a:solidFill>
                <a:latin typeface="Cambria"/>
              </a:rPr>
              <a:t>$26M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over three years, before headcount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Three intervention options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721608" cy="3749039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874519"/>
            <a:ext cx="32095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A — Targeted overtime reduction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On-call restructuring, workload rebalancing, comp-time, and a ~4-hire backfill buffer, prioritizing the 156 junior+overtime core.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Effect (assumed): </a:t>
            </a:r>
            <a:r>
              <a:rPr sz="1150" b="0" i="0">
                <a:solidFill>
                  <a:srgbClr val="232946"/>
                </a:solidFill>
                <a:latin typeface="Calibri"/>
              </a:rPr>
              <a:t> −25% relative attrition in the OT group → 32 fewer exits, $1.13M/yr saved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Cost: </a:t>
            </a:r>
            <a:r>
              <a:rPr sz="1150" b="0" i="0">
                <a:solidFill>
                  <a:srgbClr val="232946"/>
                </a:solidFill>
                <a:latin typeface="Calibri"/>
              </a:rPr>
              <a:t> ~$300K/yr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Net ≈ +$830K/yr  ·  ~3.8× gross ROI</a:t>
            </a:r>
          </a:p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A6178"/>
                </a:solidFill>
                <a:latin typeface="Calibri"/>
              </a:rPr>
              <a:t>Tradeoff: manager behavior change; some delivery-speed sacrifice.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7992" y="1600200"/>
            <a:ext cx="3721608" cy="3749039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4024" y="1874519"/>
            <a:ext cx="32095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B — Broad comp adjustment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Raise the 369 bottom-quartile earners by 10%.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Effect (assumed): </a:t>
            </a:r>
            <a:r>
              <a:rPr sz="1150" b="0" i="0">
                <a:solidFill>
                  <a:srgbClr val="232946"/>
                </a:solidFill>
                <a:latin typeface="Calibri"/>
              </a:rPr>
              <a:t> −25% relative attrition → 27 fewer exits, but junior replacements are cheap: $0.40M/yr saved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Cost: </a:t>
            </a:r>
            <a:r>
              <a:rPr sz="1150" b="0" i="0">
                <a:solidFill>
                  <a:srgbClr val="232946"/>
                </a:solidFill>
                <a:latin typeface="Calibri"/>
              </a:rPr>
              <a:t> ~$1.04M/yr, recurring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14B4B"/>
                </a:solidFill>
                <a:latin typeface="Calibri"/>
              </a:rPr>
              <a:t>Net ≈ −$640K/yr  ·  does not pay for itself</a:t>
            </a:r>
          </a:p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A6178"/>
                </a:solidFill>
                <a:latin typeface="Calibri"/>
              </a:rPr>
              <a:t>Tradeoff: strongest signal of investment; hardest to reverse. Reserve targeted corrections for proven market gaps (needs comp benchmark).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67344" y="1600200"/>
            <a:ext cx="3721608" cy="3749039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23376" y="1874519"/>
            <a:ext cx="32095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C — First-year experience + promotion velocity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Structured 90-day onboarding, mentor program, defined L1→L2 path with 12–18 month checkpoints.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Effect (assumed): </a:t>
            </a:r>
            <a:r>
              <a:rPr sz="1150" b="0" i="0">
                <a:solidFill>
                  <a:srgbClr val="232946"/>
                </a:solidFill>
                <a:latin typeface="Calibri"/>
              </a:rPr>
              <a:t> −20% first-year attrition → 15 fewer exits, $0.34M/yr saved + promotion-velocity upside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Cost: </a:t>
            </a:r>
            <a:r>
              <a:rPr sz="1150" b="0" i="0">
                <a:solidFill>
                  <a:srgbClr val="232946"/>
                </a:solidFill>
                <a:latin typeface="Calibri"/>
              </a:rPr>
              <a:t> ~$120K/yr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Net ≈ +$215K/yr  ·  ~2.8× gross ROI</a:t>
            </a:r>
          </a:p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A6178"/>
                </a:solidFill>
                <a:latin typeface="Calibri"/>
              </a:rPr>
              <a:t>Tradeoff: cheapest, lowest-risk; addresses only ~20% of the cost pool.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Recommendation: do A + C together — piloted, model-assisted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+$0.8M/yr net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≈ $1.25M/yr saved (overlap-discounted) for ~$420K/yr program cost — roughly 3×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58521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~47 fewer departures a year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— company attrition moves from 16.1% to ~13%, from worst quartile to mid-band for tech.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 sequences the rollout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— risk scores pick which teams get on-call restructuring and enhanced onboarding first. Support only, never punitive.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Pilot before scaling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— one quarter in the 2 highest-attrition Sales pods + 1 Engineering group, with a control group to validate the assumed effect sizes.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Defer B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— revisit targeted comp corrections once market benchmark data is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417320"/>
            <a:ext cx="4663440" cy="4206240"/>
          </a:xfrm>
          <a:prstGeom prst="roundRect">
            <a:avLst>
              <a:gd name="adj" fmla="val 6000"/>
            </a:avLst>
          </a:prstGeom>
          <a:solidFill>
            <a:srgbClr val="2A3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Stated assumptions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Effect sizes (−25% / −20% relative) are industry-plausible but unproven here — the pilot exists to test them.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Replacement costs are conservative; soft costs excluded.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Salary figures are the dataset's — if real payroll is higher, savings scale linearly.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Savings discounted ~15% for population overlap between A and 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12-month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5120640"/>
                <a:gridCol w="2194560"/>
                <a:gridCol w="2999232"/>
              </a:tblGrid>
              <a:tr h="4114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Qtr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Success metric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Overtime audit + pilot in 3 highest-risk teams; structured onboarding for all new hires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HRBP + Eng/Sales leads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Pilot vs. control attrition; onboarding NPS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Read pilot; scale Option A if ≥15% relative reduction observed; define L1→L2 promotion rubric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CHRO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Effect size confirmed; rubric shipped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Q3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Full rollout; model-scored quarterly retention check-ins for the top-risk decile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People Analytics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71%+ of eventual leavers had a check-in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Q4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Re-measure: target ≤14% trailing attrition; decide targeted comp corrections with market data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CHRO + Finance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946"/>
                          </a:solidFill>
                          <a:latin typeface="Calibri"/>
                        </a:rPr>
                        <a:t>Attrition rate; $ saved vs. model</a:t>
                      </a:r>
                    </a:p>
                  </a:txBody>
                  <a:tcPr anchor="ctr" marL="109728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Appendix: methodology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Data</a:t>
            </a:r>
          </a:p>
          <a:p>
            <a:pPr algn="l">
              <a:spcAft>
                <a:spcPts val="12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IBM HR Analytics dataset (1,470 employees, 35 fields, no missing values; 3 constant columns dropped). 'R&amp;D' relabelled 'Engineering' for narrative. Synthetic and cross-sectional — a single snapshot, no dates — so attrition is treated as an annualized rate and no time-based validation is possible.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Cost model (per departure)</a:t>
            </a:r>
          </a:p>
          <a:p>
            <a:pPr algn="l">
              <a:spcAft>
                <a:spcPts val="12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Recruiting 20% of annual salary + onboarding 10% + vacancy (1.5–4 months × monthly salary, by level) + ramp-up (3–6 months at 50% productivity). Yields 55% of salary (junior) to 88% (exec); average $36.6K ≈ 7.1 months. Anchors: SHRM cost-per-hire and time-to-fill studies; SHRM 6–9-month rule of thumb; Gallup 0.5–2× salary.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Models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75/25 stratified split, 5-fold CV; class imbalance handled with class weights (accuracy deliberately not headlined). Logistic regression: test ROC-AUC 0.810, PR-AUC 0.562 (baseline 0.16), CV 0.842 ± 0.044. XGBoost: 0.785 / 0.522. The simpler model wins on this small dataset; both reported.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280160"/>
            <a:ext cx="512064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Caveats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–  Correlation ≠ causation — every intervention effect size is an assumption to be piloted, not a model output.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–  237 positive cases → wide confidence intervals on per-role estimates.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–  No voluntary/involuntary split — some 'attrition' may be terminations.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–  No external comp benchmarks — can't distinguish 'paid low' from 'paid below market'.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–  Ethics: risk scores prioritize support (check-ins, workload relief), never punitive action; not visible in performance contexts.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Open inputs needed from leadership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32946"/>
                </a:solidFill>
                <a:latin typeface="Calibri"/>
              </a:rPr>
              <a:t>Real payroll scaling  ·  market comp benchmarks  ·  voluntary/involuntary attrition split  ·  actual time-to-fill by role.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